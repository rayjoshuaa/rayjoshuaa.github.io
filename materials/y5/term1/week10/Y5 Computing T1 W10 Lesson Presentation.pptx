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6cd62738d24056" /><Relationship Type="http://schemas.openxmlformats.org/officeDocument/2006/relationships/extended-properties" Target="/docProps/app.xml" Id="R7c750f71bdfc49d5" /><Relationship Type="http://schemas.openxmlformats.org/officeDocument/2006/relationships/officeDocument" Target="/ppt/presentation.xml" Id="R7189c6e9f94446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94a126017444af"/>
  </p:sldMasterIdLst>
  <p:notesMasterIdLst>
    <p:notesMasterId xmlns:r="http://schemas.openxmlformats.org/officeDocument/2006/relationships" r:id="Re64cb93b2f2446ad"/>
  </p:notesMasterIdLst>
  <p:sldIdLst>
    <p:sldId xmlns:r="http://schemas.openxmlformats.org/officeDocument/2006/relationships" id="256" r:id="R38492eff36a84b07"/>
    <p:sldId xmlns:r="http://schemas.openxmlformats.org/officeDocument/2006/relationships" id="257" r:id="R886c2f1ec8a8491a"/>
    <p:sldId xmlns:r="http://schemas.openxmlformats.org/officeDocument/2006/relationships" id="258" r:id="R3f8e0b8dd4204a05"/>
    <p:sldId xmlns:r="http://schemas.openxmlformats.org/officeDocument/2006/relationships" id="259" r:id="Rd03ed1bafbf544ec"/>
    <p:sldId xmlns:r="http://schemas.openxmlformats.org/officeDocument/2006/relationships" id="260" r:id="Ra2429be21cdf47ec"/>
    <p:sldId xmlns:r="http://schemas.openxmlformats.org/officeDocument/2006/relationships" id="261" r:id="Recc26ca553984198"/>
    <p:sldId xmlns:r="http://schemas.openxmlformats.org/officeDocument/2006/relationships" id="262" r:id="Rdbd39487d67348d8"/>
    <p:sldId xmlns:r="http://schemas.openxmlformats.org/officeDocument/2006/relationships" id="263" r:id="Rbff265deb9a94212"/>
    <p:sldId xmlns:r="http://schemas.openxmlformats.org/officeDocument/2006/relationships" id="264" r:id="Rd2ec2b535d5c45d4"/>
    <p:sldId xmlns:r="http://schemas.openxmlformats.org/officeDocument/2006/relationships" id="265" r:id="Rac2ea4b5afba4071"/>
    <p:sldId xmlns:r="http://schemas.openxmlformats.org/officeDocument/2006/relationships" id="266" r:id="Rec649735e8644a97"/>
    <p:sldId xmlns:r="http://schemas.openxmlformats.org/officeDocument/2006/relationships" id="267" r:id="Rc1bf39bebc36443b"/>
    <p:sldId xmlns:r="http://schemas.openxmlformats.org/officeDocument/2006/relationships" id="268" r:id="Rafd9f197632d495b"/>
    <p:sldId xmlns:r="http://schemas.openxmlformats.org/officeDocument/2006/relationships" id="269" r:id="R1ea70b49c7e94256"/>
    <p:sldId xmlns:r="http://schemas.openxmlformats.org/officeDocument/2006/relationships" id="270" r:id="Rd394b79090b342fd"/>
    <p:sldId xmlns:r="http://schemas.openxmlformats.org/officeDocument/2006/relationships" id="271" r:id="R39418577ee4541c6"/>
    <p:sldId xmlns:r="http://schemas.openxmlformats.org/officeDocument/2006/relationships" id="272" r:id="R0a630761a8eb4ac8"/>
    <p:sldId xmlns:r="http://schemas.openxmlformats.org/officeDocument/2006/relationships" id="273" r:id="Raf32c0c2a40d461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8c3659f199488f" /><Relationship Type="http://schemas.openxmlformats.org/officeDocument/2006/relationships/slideMaster" Target="/ppt/slideMasters/slideMaster1.xml" Id="R8494a126017444af" /><Relationship Type="http://schemas.openxmlformats.org/officeDocument/2006/relationships/notesMaster" Target="/ppt/notesMasters/notesMaster1.xml" Id="Re64cb93b2f2446ad" /><Relationship Type="http://schemas.openxmlformats.org/officeDocument/2006/relationships/presProps" Target="/ppt/presProps.xml" Id="Rc9d9e6a8b5fc4ba9" /><Relationship Type="http://schemas.openxmlformats.org/officeDocument/2006/relationships/tableStyles" Target="/ppt/tableStyles.xml" Id="R17623048a45e4f06" /><Relationship Type="http://schemas.openxmlformats.org/officeDocument/2006/relationships/slide" Target="/ppt/slides/slide1.xml" Id="R38492eff36a84b07" /><Relationship Type="http://schemas.openxmlformats.org/officeDocument/2006/relationships/slide" Target="/ppt/slides/slide2.xml" Id="R886c2f1ec8a8491a" /><Relationship Type="http://schemas.openxmlformats.org/officeDocument/2006/relationships/slide" Target="/ppt/slides/slide3.xml" Id="R3f8e0b8dd4204a05" /><Relationship Type="http://schemas.openxmlformats.org/officeDocument/2006/relationships/slide" Target="/ppt/slides/slide4.xml" Id="Rd03ed1bafbf544ec" /><Relationship Type="http://schemas.openxmlformats.org/officeDocument/2006/relationships/slide" Target="/ppt/slides/slide5.xml" Id="Ra2429be21cdf47ec" /><Relationship Type="http://schemas.openxmlformats.org/officeDocument/2006/relationships/slide" Target="/ppt/slides/slide6.xml" Id="Recc26ca553984198" /><Relationship Type="http://schemas.openxmlformats.org/officeDocument/2006/relationships/slide" Target="/ppt/slides/slide7.xml" Id="Rdbd39487d67348d8" /><Relationship Type="http://schemas.openxmlformats.org/officeDocument/2006/relationships/slide" Target="/ppt/slides/slide8.xml" Id="Rbff265deb9a94212" /><Relationship Type="http://schemas.openxmlformats.org/officeDocument/2006/relationships/slide" Target="/ppt/slides/slide9.xml" Id="Rd2ec2b535d5c45d4" /><Relationship Type="http://schemas.openxmlformats.org/officeDocument/2006/relationships/slide" Target="/ppt/slides/slide10.xml" Id="Rac2ea4b5afba4071" /><Relationship Type="http://schemas.openxmlformats.org/officeDocument/2006/relationships/slide" Target="/ppt/slides/slide11.xml" Id="Rec649735e8644a97" /><Relationship Type="http://schemas.openxmlformats.org/officeDocument/2006/relationships/slide" Target="/ppt/slides/slide12.xml" Id="Rc1bf39bebc36443b" /><Relationship Type="http://schemas.openxmlformats.org/officeDocument/2006/relationships/slide" Target="/ppt/slides/slide13.xml" Id="Rafd9f197632d495b" /><Relationship Type="http://schemas.openxmlformats.org/officeDocument/2006/relationships/slide" Target="/ppt/slides/slide14.xml" Id="R1ea70b49c7e94256" /><Relationship Type="http://schemas.openxmlformats.org/officeDocument/2006/relationships/slide" Target="/ppt/slides/slide15.xml" Id="Rd394b79090b342fd" /><Relationship Type="http://schemas.openxmlformats.org/officeDocument/2006/relationships/slide" Target="/ppt/slides/slide16.xml" Id="R39418577ee4541c6" /><Relationship Type="http://schemas.openxmlformats.org/officeDocument/2006/relationships/slide" Target="/ppt/slides/slide17.xml" Id="R0a630761a8eb4ac8" /><Relationship Type="http://schemas.openxmlformats.org/officeDocument/2006/relationships/slide" Target="/ppt/slides/slide18.xml" Id="Raf32c0c2a40d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ba4cb7132f42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951d0b63d45c9" /><Relationship Type="http://schemas.openxmlformats.org/officeDocument/2006/relationships/notesMaster" Target="/ppt/notesMasters/notesMaster1.xml" Id="Re27514a576f44c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e2e2b478dd414b" /><Relationship Type="http://schemas.openxmlformats.org/officeDocument/2006/relationships/notesMaster" Target="/ppt/notesMasters/notesMaster1.xml" Id="R9d45e194d9c849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9a709e25804631" /><Relationship Type="http://schemas.openxmlformats.org/officeDocument/2006/relationships/notesMaster" Target="/ppt/notesMasters/notesMaster1.xml" Id="R1825d4a714f842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7d51c9b584dc8" /><Relationship Type="http://schemas.openxmlformats.org/officeDocument/2006/relationships/notesMaster" Target="/ppt/notesMasters/notesMaster1.xml" Id="Rc22ac292966e41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9b453057124c90" /><Relationship Type="http://schemas.openxmlformats.org/officeDocument/2006/relationships/notesMaster" Target="/ppt/notesMasters/notesMaster1.xml" Id="Rac7a6fb8b7c14d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c4539925374e9c" /><Relationship Type="http://schemas.openxmlformats.org/officeDocument/2006/relationships/notesMaster" Target="/ppt/notesMasters/notesMaster1.xml" Id="R5963a661185346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bbf87c9bb84b38" /><Relationship Type="http://schemas.openxmlformats.org/officeDocument/2006/relationships/notesMaster" Target="/ppt/notesMasters/notesMaster1.xml" Id="R99b253df22444c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8278ed261f4b18" /><Relationship Type="http://schemas.openxmlformats.org/officeDocument/2006/relationships/notesMaster" Target="/ppt/notesMasters/notesMaster1.xml" Id="Rad9c36593ddc45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9d05ef36354229" /><Relationship Type="http://schemas.openxmlformats.org/officeDocument/2006/relationships/notesMaster" Target="/ppt/notesMasters/notesMaster1.xml" Id="R2daf94c52e3f47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10bf29bcf44746" /><Relationship Type="http://schemas.openxmlformats.org/officeDocument/2006/relationships/notesMaster" Target="/ppt/notesMasters/notesMaster1.xml" Id="R6986bdfda8b747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60a8051b9a4e25" /><Relationship Type="http://schemas.openxmlformats.org/officeDocument/2006/relationships/notesMaster" Target="/ppt/notesMasters/notesMaster1.xml" Id="Rb09d93cb456746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55fe16a363409c" /><Relationship Type="http://schemas.openxmlformats.org/officeDocument/2006/relationships/notesMaster" Target="/ppt/notesMasters/notesMaster1.xml" Id="R4440ef2a771741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6eed6c06fe41cc" /><Relationship Type="http://schemas.openxmlformats.org/officeDocument/2006/relationships/notesMaster" Target="/ppt/notesMasters/notesMaster1.xml" Id="R6e8e14bee73c49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b7a3acc07d4dc0" /><Relationship Type="http://schemas.openxmlformats.org/officeDocument/2006/relationships/notesMaster" Target="/ppt/notesMasters/notesMaster1.xml" Id="Rc0902cac3bad43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03e3ed2bf1429f" /><Relationship Type="http://schemas.openxmlformats.org/officeDocument/2006/relationships/notesMaster" Target="/ppt/notesMasters/notesMaster1.xml" Id="R3fd0b722dc3545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fc9d6a76994a8d" /><Relationship Type="http://schemas.openxmlformats.org/officeDocument/2006/relationships/notesMaster" Target="/ppt/notesMasters/notesMaster1.xml" Id="Rad9f4a35668c41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57765c03e74136" /><Relationship Type="http://schemas.openxmlformats.org/officeDocument/2006/relationships/notesMaster" Target="/ppt/notesMasters/notesMaster1.xml" Id="Rf15111d38ea549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193952be714371" /><Relationship Type="http://schemas.openxmlformats.org/officeDocument/2006/relationships/notesMaster" Target="/ppt/notesMasters/notesMaster1.xml" Id="R7f90d512babb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Searching the web</a:t>
            </a:r>
          </a:p>
          <a:p xmlns:a="http://schemas.openxmlformats.org/drawingml/2006/main">
            <a:r>
              <a:t>Two 45-minute lessons. Lesson 1 slides 2–9. Lesson 2 slides 10–18. Preparation: display, notebooks, approved browser access or use offline cards on slide 7. The fictional page cards on slide 14 support the offline role-play. Pupils can copy cards into notebooks. Use model answers on slide 16 after discussion.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Year 5 Computing</a:t>
            </a:r>
          </a:p>
          <a:p xmlns:a="http://schemas.openxmlformats.org/drawingml/2006/main">
            <a:r>
              <a:t>Term 1 Week 10</a:t>
            </a:r>
          </a:p>
          <a:p xmlns:a="http://schemas.openxmlformats.org/drawingml/2006/main">
            <a:r>
              <a:t>Lesson 1: Searching the web</a:t>
            </a:r>
          </a:p>
          <a:p xmlns:a="http://schemas.openxmlformats.org/drawingml/2006/main">
            <a:r>
              <a:t>Lesson 2: How search engines work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1: Searching the web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Today we will:</a:t>
            </a:r>
          </a:p>
          <a:p xmlns:a="http://schemas.openxmlformats.org/drawingml/2006/main">
            <a:r>
              <a:t>Choose useful keywords.</a:t>
            </a:r>
          </a:p>
          <a:p xmlns:a="http://schemas.openxmlformats.org/drawingml/2006/main">
            <a:r>
              <a:t>Improve a search when results do not help.</a:t>
            </a:r>
          </a:p>
          <a:p xmlns:a="http://schemas.openxmlformats.org/drawingml/2006/main">
            <a:r>
              <a:t>Use bookmarks to return to useful pages.</a:t>
            </a:r>
          </a:p>
          <a:p xmlns:a="http://schemas.openxmlformats.org/drawingml/2006/main">
            <a:r>
              <a:t>Starter: How could you find where a volcano is?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habits for a useful 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1. Choose clear keywords.</a:t>
            </a:r>
          </a:p>
          <a:p xmlns:a="http://schemas.openxmlformats.org/drawingml/2006/main">
            <a:r>
              <a:t>2. Use the teacher-approved search tool.</a:t>
            </a:r>
          </a:p>
          <a:p xmlns:a="http://schemas.openxmlformats.org/drawingml/2006/main">
            <a:r>
              <a:t>3. Bookmark useful pages.</a:t>
            </a:r>
          </a:p>
          <a:p xmlns:a="http://schemas.openxmlformats.org/drawingml/2006/main">
            <a:r>
              <a:t>4. Change the query and try again.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Keywords that match the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Question: Where is Tungurahua volcano?</a:t>
            </a:r>
          </a:p>
          <a:p xmlns:a="http://schemas.openxmlformats.org/drawingml/2006/main">
            <a:r>
              <a:t>Broad query: volcano</a:t>
            </a:r>
          </a:p>
          <a:p xmlns:a="http://schemas.openxmlformats.org/drawingml/2006/main">
            <a:r>
              <a:t>More focused query: Tungurahua volcano location</a:t>
            </a:r>
          </a:p>
          <a:p xmlns:a="http://schemas.openxmlformats.org/drawingml/2006/main">
            <a:r>
              <a:t>Keep the words that describe what you need.</a:t>
            </a:r>
          </a:p>
          <a:p xmlns:a="http://schemas.openxmlformats.org/drawingml/2006/main">
            <a:r>
              <a:t>Which query is more likely to help?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useful search tool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Use the search tool your teacher approves.</a:t>
            </a:r>
          </a:p>
          <a:p xmlns:a="http://schemas.openxmlformats.org/drawingml/2006/main">
            <a:r>
              <a:t>Some tools offer results designed for children.</a:t>
            </a:r>
          </a:p>
          <a:p xmlns:a="http://schemas.openxmlformats.org/drawingml/2006/main">
            <a:r>
              <a:t>Read the title and description before opening a result.</a:t>
            </a:r>
          </a:p>
          <a:p xmlns:a="http://schemas.openxmlformats.org/drawingml/2006/main">
            <a:r>
              <a:t>If something worries you, stop and ask an adult.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Bookmarks and another 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A bookmark saves a link to a useful page.</a:t>
            </a:r>
          </a:p>
          <a:p xmlns:a="http://schemas.openxmlformats.org/drawingml/2006/main">
            <a:r>
              <a:t>Give the bookmark a clear name.</a:t>
            </a:r>
          </a:p>
          <a:p xmlns:a="http://schemas.openxmlformats.org/drawingml/2006/main">
            <a:r>
              <a:t>If a search misses the answer, change your keywords.</a:t>
            </a:r>
          </a:p>
          <a:p xmlns:a="http://schemas.openxmlformats.org/drawingml/2006/main">
            <a:r>
              <a:t>Example: Tungurahua becomes Tungurahua volcano country.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practice: a better query</a:t>
            </a:r>
          </a:p>
          <a:p xmlns:a="http://schemas.openxmlformats.org/drawingml/2006/main">
            <a:r>
              <a:t>Suggested answer: Tungurahua volcano location. Card B best answers the location question. Cards are prepared fictional summaries, not live search results. Model query refinement aloud.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Question: Where is Tungurahua volcano?</a:t>
            </a:r>
          </a:p>
          <a:p xmlns:a="http://schemas.openxmlformats.org/drawingml/2006/main">
            <a:r>
              <a:t>1. Choose the most useful keywords.</a:t>
            </a:r>
          </a:p>
          <a:p xmlns:a="http://schemas.openxmlformats.org/drawingml/2006/main">
            <a:r>
              <a:t>2. Compare these classroom result cards.</a:t>
            </a:r>
          </a:p>
          <a:p xmlns:a="http://schemas.openxmlformats.org/drawingml/2006/main">
            <a:r>
              <a:t>3. Choose a card and explain why.</a:t>
            </a:r>
          </a:p>
          <a:p xmlns:a="http://schemas.openxmlformats.org/drawingml/2006/main">
            <a:r>
              <a:t>A: Volcanoes around the world</a:t>
            </a:r>
          </a:p>
          <a:p xmlns:a="http://schemas.openxmlformats.org/drawingml/2006/main">
            <a:r>
              <a:t>B: Tungurahua: location in Ecuador</a:t>
            </a:r>
          </a:p>
          <a:p xmlns:a="http://schemas.openxmlformats.org/drawingml/2006/main">
            <a:r>
              <a:t>C: Volcano model for a school project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Activity: two searches</a:t>
            </a:r>
          </a:p>
          <a:p xmlns:a="http://schemas.openxmlformats.org/drawingml/2006/main">
            <a:r>
              <a:t>Lesson 1 timings: starter/objectives 5, habits 5, keywords 6, tool choice 4, bookmarks 4, guided example 6, independent practice 12, review 3. Activity slide says 15 minutes including 12 minutes work and 3 minutes sharing/review. Offline: ask pupils to compare volcano, Tungurahua and Tungurahua location against slide 7 cards. Record which card each query might retrieve and explain which answer is most relevant. Support: supply query words. Extension: compare two query choices and explain limitations.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Work with a partner for 15 minutes.</a:t>
            </a:r>
          </a:p>
          <a:p xmlns:a="http://schemas.openxmlformats.org/drawingml/2006/main">
            <a:r>
              <a:t>Choose a teacher-approved geography question.</a:t>
            </a:r>
          </a:p>
          <a:p xmlns:a="http://schemas.openxmlformats.org/drawingml/2006/main">
            <a:r>
              <a:t>Write your first query and the result it gives.</a:t>
            </a:r>
          </a:p>
          <a:p xmlns:a="http://schemas.openxmlformats.org/drawingml/2006/main">
            <a:r>
              <a:t>Improve the query and compare the results.</a:t>
            </a:r>
          </a:p>
          <a:p xmlns:a="http://schemas.openxmlformats.org/drawingml/2006/main">
            <a:r>
              <a:t>Record the useful fact and its source.</a:t>
            </a:r>
          </a:p>
          <a:p xmlns:a="http://schemas.openxmlformats.org/drawingml/2006/main">
            <a:r>
              <a:t>Offline: use the classroom result cards.</a:t>
            </a:r>
          </a:p>
          <a:p xmlns:a="http://schemas.openxmlformats.org/drawingml/2006/main">
            <a:r>
              <a:t>Challenge: explain why one query worked better.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 review</a:t>
            </a:r>
          </a:p>
          <a:p xmlns:a="http://schemas.openxmlformats.org/drawingml/2006/main">
            <a:r>
              <a:t>Expected responses: animal name plus habitat; change/add more specific keywords; bookmark stores a link for quick return. Assess one spoken explanation per pair.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Which keywords would help you find an animal's habitat?</a:t>
            </a:r>
          </a:p>
          <a:p xmlns:a="http://schemas.openxmlformats.org/drawingml/2006/main">
            <a:r>
              <a:t>What can you change if a search does not help?</a:t>
            </a:r>
          </a:p>
          <a:p xmlns:a="http://schemas.openxmlformats.org/drawingml/2006/main">
            <a:r>
              <a:t>How does a bookmark help you?</a:t>
            </a:r>
          </a:p>
          <a:p xmlns:a="http://schemas.openxmlformats.org/drawingml/2006/main">
            <a:r>
              <a:t>Explain one improvement you made today.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2: How search engines work</a:t>
            </a:r>
          </a:p>
          <a:p xmlns:a="http://schemas.openxmlformats.org/drawingml/2006/main">
            <a:r>
              <a:t>Lesson 2 timings: starter 5, crawlers 6, index 6, matching 6, page-card demonstration 5, role-play 15, exit review 2. Slide 16 supplies feedback during the final part of role-play. Slide 18 is optional closing recap.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Today we will explain:</a:t>
            </a:r>
          </a:p>
          <a:p xmlns:a="http://schemas.openxmlformats.org/drawingml/2006/main">
            <a:r>
              <a:t>Crawling: software discovers pages.</a:t>
            </a:r>
          </a:p>
          <a:p xmlns:a="http://schemas.openxmlformats.org/drawingml/2006/main">
            <a:r>
              <a:t>Indexing: information about pages is stored.</a:t>
            </a:r>
          </a:p>
          <a:p xmlns:a="http://schemas.openxmlformats.org/drawingml/2006/main">
            <a:r>
              <a:t>Matching: an algorithm selects results for a query.</a:t>
            </a:r>
          </a:p>
          <a:p xmlns:a="http://schemas.openxmlformats.org/drawingml/2006/main">
            <a:r>
              <a:t>Starter: How can results appear so quickly?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crawlers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A crawler is software, sometimes called a spider.</a:t>
            </a:r>
          </a:p>
          <a:p xmlns:a="http://schemas.openxmlformats.org/drawingml/2006/main">
            <a:r>
              <a:t>It discovers accessible web pages and follows links.</a:t>
            </a:r>
          </a:p>
          <a:p xmlns:a="http://schemas.openxmlformats.org/drawingml/2006/main">
            <a:r>
              <a:t>It collects information about the pages it visits.</a:t>
            </a:r>
          </a:p>
          <a:p xmlns:a="http://schemas.openxmlformats.org/drawingml/2006/main">
            <a:r>
              <a:t>Some pages are unavailable or never reach the index.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search index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The index stores information about discovered pages.</a:t>
            </a:r>
          </a:p>
          <a:p xmlns:a="http://schemas.openxmlformats.org/drawingml/2006/main">
            <a:r>
              <a:t>Think of an organised catalogue.</a:t>
            </a:r>
          </a:p>
          <a:p xmlns:a="http://schemas.openxmlformats.org/drawingml/2006/main">
            <a:r>
              <a:t>A search engine can look in its index quickly.</a:t>
            </a:r>
          </a:p>
          <a:p xmlns:a="http://schemas.openxmlformats.org/drawingml/2006/main">
            <a:r>
              <a:t>It does not read the whole web again for every query.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Matching and ordering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Your query goes to the search engine.</a:t>
            </a:r>
          </a:p>
          <a:p xmlns:a="http://schemas.openxmlformats.org/drawingml/2006/main">
            <a:r>
              <a:t>An algorithm compares it with information in the index.</a:t>
            </a:r>
          </a:p>
          <a:p xmlns:a="http://schemas.openxmlformats.org/drawingml/2006/main">
            <a:r>
              <a:t>It selects and orders results that may be useful.</a:t>
            </a:r>
          </a:p>
          <a:p xmlns:a="http://schemas.openxmlformats.org/drawingml/2006/main">
            <a:r>
              <a:t>You still need to check whether a result answers your question.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classroom web</a:t>
            </a:r>
          </a:p>
          <a:p xmlns:a="http://schemas.openxmlformats.org/drawingml/2006/main">
            <a:r>
              <a:t>Read aloud and let pupils copy the four short cards. Demonstrate starting at A and following A to B then B to C. D has no incoming link in this small model. This models discovery limits, not a complete real search algorithm.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These are fictional page cards for a model.</a:t>
            </a:r>
          </a:p>
          <a:p xmlns:a="http://schemas.openxmlformats.org/drawingml/2006/main">
            <a:r>
              <a:t>A: Volcano guide. Keywords: volcano, Ecuador. Link: B.</a:t>
            </a:r>
          </a:p>
          <a:p xmlns:a="http://schemas.openxmlformats.org/drawingml/2006/main">
            <a:r>
              <a:t>B: River guide. Keywords: river, Africa. Link: C.</a:t>
            </a:r>
          </a:p>
          <a:p xmlns:a="http://schemas.openxmlformats.org/drawingml/2006/main">
            <a:r>
              <a:t>C: Volcano safety. Keywords: volcano, safety. No link.</a:t>
            </a:r>
          </a:p>
          <a:p xmlns:a="http://schemas.openxmlformats.org/drawingml/2006/main">
            <a:r>
              <a:t>D: Rainforest guide. Keywords: rainforest, animals. No link.</a:t>
            </a:r>
          </a:p>
          <a:p xmlns:a="http://schemas.openxmlformats.org/drawingml/2006/main">
            <a:r>
              <a:t>Start crawling at A. Follow its links.</a:t>
            </a:r>
          </a:p>
          <a:p xmlns:a="http://schemas.openxmlformats.org/drawingml/2006/main">
            <a:r>
              <a:t>Which pages can you discover?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Activity: a human search engine</a:t>
            </a:r>
          </a:p>
          <a:p xmlns:a="http://schemas.openxmlformats.org/drawingml/2006/main">
            <a:r>
              <a:t>Use three roles per group. Crawler reads discovered page keywords. Indexer records A/B/C. Searcher checks query words against index. Query volcano returns A and C; river Africa returns B; rainforest animals finds no indexed card. Discuss why D is absent. Model simplification: real systems use multiple discovery methods and many ranking signals.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Work in groups for 15 minutes.</a:t>
            </a:r>
          </a:p>
          <a:p xmlns:a="http://schemas.openxmlformats.org/drawingml/2006/main">
            <a:r>
              <a:t>Crawler: start at A and follow the links.</a:t>
            </a:r>
          </a:p>
          <a:p xmlns:a="http://schemas.openxmlformats.org/drawingml/2006/main">
            <a:r>
              <a:t>Indexer: record each discovered page and its keywords.</a:t>
            </a:r>
          </a:p>
          <a:p xmlns:a="http://schemas.openxmlformats.org/drawingml/2006/main">
            <a:r>
              <a:t>Searcher: use the index to answer volcano and river Africa.</a:t>
            </a:r>
          </a:p>
          <a:p xmlns:a="http://schemas.openxmlformats.org/drawingml/2006/main">
            <a:r>
              <a:t>Swap roles and try rainforest animals.</a:t>
            </a:r>
          </a:p>
          <a:p xmlns:a="http://schemas.openxmlformats.org/drawingml/2006/main">
            <a:r>
              <a:t>Explain why a page might be missing from the results.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answers and limits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Starting at A discovers A, B and C.</a:t>
            </a:r>
          </a:p>
          <a:p xmlns:a="http://schemas.openxmlformats.org/drawingml/2006/main">
            <a:r>
              <a:t>Our index: A = volcano, Ecuador. B = river, Africa. C = volcano, safety.</a:t>
            </a:r>
          </a:p>
          <a:p xmlns:a="http://schemas.openxmlformats.org/drawingml/2006/main">
            <a:r>
              <a:t>volcano matches A and C.</a:t>
            </a:r>
          </a:p>
          <a:p xmlns:a="http://schemas.openxmlformats.org/drawingml/2006/main">
            <a:r>
              <a:t>river Africa matches B.</a:t>
            </a:r>
          </a:p>
          <a:p xmlns:a="http://schemas.openxmlformats.org/drawingml/2006/main">
            <a:r>
              <a:t>rainforest animals has no match in this index.</a:t>
            </a:r>
          </a:p>
          <a:p xmlns:a="http://schemas.openxmlformats.org/drawingml/2006/main">
            <a:r>
              <a:t>D exists, but our crawler never reached it.</a:t>
            </a:r>
          </a:p>
          <a:p xmlns:a="http://schemas.openxmlformats.org/drawingml/2006/main">
            <a:r>
              <a:t>Real search engines use many more signals.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you finish</a:t>
            </a:r>
          </a:p>
          <a:p xmlns:a="http://schemas.openxmlformats.org/drawingml/2006/main">
            <a:r>
              <a:t>Answers: crawling, indexing, matching. Crawler software discovers accessible pages and follows links. Index stores page information for quick search. Yes: discovery/access/indexing limits can omit a page. Collect three-sentence explanation. Support sentence stems: A crawler... The index... When I search...</a:t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1. Put these stages in order: matching, crawling, indexing.</a:t>
            </a:r>
          </a:p>
          <a:p xmlns:a="http://schemas.openxmlformats.org/drawingml/2006/main">
            <a:r>
              <a:t>2. What does a crawler do?</a:t>
            </a:r>
          </a:p>
          <a:p xmlns:a="http://schemas.openxmlformats.org/drawingml/2006/main">
            <a:r>
              <a:t>3. Why does an index help a search engine?</a:t>
            </a:r>
          </a:p>
          <a:p xmlns:a="http://schemas.openxmlformats.org/drawingml/2006/main">
            <a:r>
              <a:t>4. Can a useful page be missing from search results?</a:t>
            </a:r>
          </a:p>
          <a:p xmlns:a="http://schemas.openxmlformats.org/drawingml/2006/main">
            <a:r>
              <a:t>Exit task: explain a search engine in three sentences.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10 recap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content:</a:t>
            </a:r>
          </a:p>
          <a:p xmlns:a="http://schemas.openxmlformats.org/drawingml/2006/main">
            <a:r>
              <a:t>Useful searches start with clear keywords.</a:t>
            </a:r>
          </a:p>
          <a:p xmlns:a="http://schemas.openxmlformats.org/drawingml/2006/main">
            <a:r>
              <a:t>Refining a query can improve the results.</a:t>
            </a:r>
          </a:p>
          <a:p xmlns:a="http://schemas.openxmlformats.org/drawingml/2006/main">
            <a:r>
              <a:t>Bookmarks help you return to useful pages.</a:t>
            </a:r>
          </a:p>
          <a:p xmlns:a="http://schemas.openxmlformats.org/drawingml/2006/main">
            <a:r>
              <a:t>Crawlers discover pages and indexes store information.</a:t>
            </a:r>
          </a:p>
          <a:p xmlns:a="http://schemas.openxmlformats.org/drawingml/2006/main">
            <a:r>
              <a:t>Algorithms match and order results.</a:t>
            </a:r>
          </a:p>
          <a:p xmlns:a="http://schemas.openxmlformats.org/drawingml/2006/main">
            <a:r>
              <a:t>A search index does not contain every web page.</a:t>
            </a:r>
          </a:p>
          <a:p xmlns:a="http://schemas.openxmlformats.org/drawingml/2006/main">
            <a:r>
              <a:t>Sources: Oxford International Primary Computing Student Book 5, printed pp.20–25 (uploaded source). Approved Week 10 lesson plan: https://rayjoshuaa.github.io/ and https://rayjoshuaa.github.io/lesson-content-y5.js (y5-t1-w10). Visuals: AI-generated classroom illustrations. Fictional page cards and example results are teaching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afbcb3f0cb45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bbabb625b49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bbe60ddf54c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ac41d21b849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0383fb1f242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2a79bfa6c46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64C10-03D7-4DDB-8774-877B2CCE4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BC0708-69F2-4D69-B1FD-E3A9E467C3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C8AA9F-673B-4F50-8E38-9277CAE9F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7CCA39-DCDE-4D61-80DB-25491108F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F75BBB-8437-4E63-A2BF-0E35D441A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EDC4EA-E822-4E60-9EDA-BDA32A8541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2AA411-0334-4F27-87EA-C452565A8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387CD9-4A69-45AF-9EF1-703B55387D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606EFE-4BB1-4D73-89EB-F1C969CA6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DE5049-BFCD-417F-996F-E405CF426E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4cabaaaa264bdb" /><Relationship Type="http://schemas.openxmlformats.org/officeDocument/2006/relationships/slideLayout" Target="/ppt/slideLayouts/slideLayout1.xml" Id="R9ffcfe31d6c54978" /><Relationship Type="http://schemas.openxmlformats.org/officeDocument/2006/relationships/slideLayout" Target="/ppt/slideLayouts/slideLayout2.xml" Id="R4bb746e2ec5348e7" /><Relationship Type="http://schemas.openxmlformats.org/officeDocument/2006/relationships/slideLayout" Target="/ppt/slideLayouts/slideLayout3.xml" Id="R550bb49af16e4896" /><Relationship Type="http://schemas.openxmlformats.org/officeDocument/2006/relationships/slideLayout" Target="/ppt/slideLayouts/slideLayout4.xml" Id="R6f9af0d11fc54721" /><Relationship Type="http://schemas.openxmlformats.org/officeDocument/2006/relationships/slideLayout" Target="/ppt/slideLayouts/slideLayout5.xml" Id="Rc87a3c9b869143d6" /><Relationship Type="http://schemas.openxmlformats.org/officeDocument/2006/relationships/slideLayout" Target="/ppt/slideLayouts/slideLayout6.xml" Id="Rf5f7397405a44d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fcfe31d6c54978"/>
    <p:sldLayoutId xmlns:r="http://schemas.openxmlformats.org/officeDocument/2006/relationships" id="2147483650" r:id="R4bb746e2ec5348e7"/>
    <p:sldLayoutId xmlns:r="http://schemas.openxmlformats.org/officeDocument/2006/relationships" id="2147483651" r:id="R550bb49af16e4896"/>
    <p:sldLayoutId xmlns:r="http://schemas.openxmlformats.org/officeDocument/2006/relationships" id="2147483652" r:id="R6f9af0d11fc54721"/>
    <p:sldLayoutId xmlns:r="http://schemas.openxmlformats.org/officeDocument/2006/relationships" id="2147483653" r:id="Rc87a3c9b869143d6"/>
    <p:sldLayoutId xmlns:r="http://schemas.openxmlformats.org/officeDocument/2006/relationships" id="2147483654" r:id="Rf5f7397405a44d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9ba1af7794839" /><Relationship Type="http://schemas.openxmlformats.org/officeDocument/2006/relationships/image" Target="/ppt/media/image.jpeg" Id="R90585639726c451f" /><Relationship Type="http://schemas.openxmlformats.org/officeDocument/2006/relationships/notesSlide" Target="/ppt/notesSlides/notesSlide1.xml" Id="R4d34d9c76c704f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36cb795d94ccc" /><Relationship Type="http://schemas.openxmlformats.org/officeDocument/2006/relationships/image" Target="/ppt/media/image2.jpeg" Id="R201cbbcf687441b5" /><Relationship Type="http://schemas.openxmlformats.org/officeDocument/2006/relationships/notesSlide" Target="/ppt/notesSlides/notesSlide2.xml" Id="R90d2eb3a0e2c4f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c72f0c4dc9499c" /><Relationship Type="http://schemas.openxmlformats.org/officeDocument/2006/relationships/image" Target="/ppt/media/image3.jpeg" Id="Rd42dd8516a7b4dc4" /><Relationship Type="http://schemas.openxmlformats.org/officeDocument/2006/relationships/notesSlide" Target="/ppt/notesSlides/notesSlide3.xml" Id="R33169037ba4c4a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fe4b3bace4f11" /><Relationship Type="http://schemas.openxmlformats.org/officeDocument/2006/relationships/image" Target="/ppt/media/image4.jpeg" Id="R74ee5e29af5745a7" /><Relationship Type="http://schemas.openxmlformats.org/officeDocument/2006/relationships/notesSlide" Target="/ppt/notesSlides/notesSlide4.xml" Id="Rf0ac9dc13b1d49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c6dac472a4463" /><Relationship Type="http://schemas.openxmlformats.org/officeDocument/2006/relationships/image" Target="/ppt/media/image5.jpeg" Id="Rd95424f1cf9449b7" /><Relationship Type="http://schemas.openxmlformats.org/officeDocument/2006/relationships/notesSlide" Target="/ppt/notesSlides/notesSlide5.xml" Id="Reea0f78db8ad48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bdea402004076" /><Relationship Type="http://schemas.openxmlformats.org/officeDocument/2006/relationships/image" Target="/ppt/media/image6.jpeg" Id="R0e24396f99ca42e8" /><Relationship Type="http://schemas.openxmlformats.org/officeDocument/2006/relationships/notesSlide" Target="/ppt/notesSlides/notesSlide6.xml" Id="Rf8ebe8d333bf4b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6ce4d75ff43b6" /><Relationship Type="http://schemas.openxmlformats.org/officeDocument/2006/relationships/image" Target="/ppt/media/image7.jpeg" Id="R55502e3ed1d344c5" /><Relationship Type="http://schemas.openxmlformats.org/officeDocument/2006/relationships/notesSlide" Target="/ppt/notesSlides/notesSlide7.xml" Id="Rf6a9488d4bf845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2e78d2c784119" /><Relationship Type="http://schemas.openxmlformats.org/officeDocument/2006/relationships/image" Target="/ppt/media/image8.jpeg" Id="Rce85edabc84c4c98" /><Relationship Type="http://schemas.openxmlformats.org/officeDocument/2006/relationships/notesSlide" Target="/ppt/notesSlides/notesSlide8.xml" Id="R0cea0fd6a5d34e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4c06a2dd74dea" /><Relationship Type="http://schemas.openxmlformats.org/officeDocument/2006/relationships/image" Target="/ppt/media/image9.jpeg" Id="Rd788ec9bcaba475d" /><Relationship Type="http://schemas.openxmlformats.org/officeDocument/2006/relationships/notesSlide" Target="/ppt/notesSlides/notesSlide9.xml" Id="Rbd6ff7c2d8734e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bb84bb790415a" /><Relationship Type="http://schemas.openxmlformats.org/officeDocument/2006/relationships/image" Target="/ppt/media/image10.jpeg" Id="R8209d9075b8c4902" /><Relationship Type="http://schemas.openxmlformats.org/officeDocument/2006/relationships/notesSlide" Target="/ppt/notesSlides/notesSlide10.xml" Id="Rd1b221ed280c4b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93f36c17f4480" /><Relationship Type="http://schemas.openxmlformats.org/officeDocument/2006/relationships/image" Target="/ppt/media/image11.jpeg" Id="R76f30bdfc3ea4c30" /><Relationship Type="http://schemas.openxmlformats.org/officeDocument/2006/relationships/notesSlide" Target="/ppt/notesSlides/notesSlide11.xml" Id="Rea15454ec98243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63fa0fd3e4cd9" /><Relationship Type="http://schemas.openxmlformats.org/officeDocument/2006/relationships/image" Target="/ppt/media/image12.jpeg" Id="R438bb2d604664873" /><Relationship Type="http://schemas.openxmlformats.org/officeDocument/2006/relationships/notesSlide" Target="/ppt/notesSlides/notesSlide12.xml" Id="R949e7d897bcd40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738f1a7be405b" /><Relationship Type="http://schemas.openxmlformats.org/officeDocument/2006/relationships/image" Target="/ppt/media/image13.jpeg" Id="Rf6f85934e4f84d5b" /><Relationship Type="http://schemas.openxmlformats.org/officeDocument/2006/relationships/notesSlide" Target="/ppt/notesSlides/notesSlide13.xml" Id="Re34587306ce34e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52463e73843cb" /><Relationship Type="http://schemas.openxmlformats.org/officeDocument/2006/relationships/image" Target="/ppt/media/image14.jpeg" Id="Rab7b32f3c38c4ddd" /><Relationship Type="http://schemas.openxmlformats.org/officeDocument/2006/relationships/notesSlide" Target="/ppt/notesSlides/notesSlide14.xml" Id="Rba1cb4f2843f4a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ed8f46f7f4ebc" /><Relationship Type="http://schemas.openxmlformats.org/officeDocument/2006/relationships/image" Target="/ppt/media/image15.jpeg" Id="R6ef731685f3449ef" /><Relationship Type="http://schemas.openxmlformats.org/officeDocument/2006/relationships/notesSlide" Target="/ppt/notesSlides/notesSlide15.xml" Id="R901c58c37c904ee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593b431ee4007" /><Relationship Type="http://schemas.openxmlformats.org/officeDocument/2006/relationships/image" Target="/ppt/media/image16.jpeg" Id="Rf1ade12192764556" /><Relationship Type="http://schemas.openxmlformats.org/officeDocument/2006/relationships/notesSlide" Target="/ppt/notesSlides/notesSlide16.xml" Id="Rcb592560da014b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2612b53014fb7" /><Relationship Type="http://schemas.openxmlformats.org/officeDocument/2006/relationships/image" Target="/ppt/media/image17.jpeg" Id="R6cba8e9cebd047a4" /><Relationship Type="http://schemas.openxmlformats.org/officeDocument/2006/relationships/notesSlide" Target="/ppt/notesSlides/notesSlide17.xml" Id="Rd1ca5249e50f4a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91da97be541fa" /><Relationship Type="http://schemas.openxmlformats.org/officeDocument/2006/relationships/image" Target="/ppt/media/image18.jpeg" Id="R4740d57ca3964eb6" /><Relationship Type="http://schemas.openxmlformats.org/officeDocument/2006/relationships/notesSlide" Target="/ppt/notesSlides/notesSlide18.xml" Id="Ra3d73e07522c4c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2C7D-51C6-48C9-A439-30AF6B50F0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85639726c451f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818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2369D-978F-47F9-B477-666036A6B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cbbcf687441b5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858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07387-6874-45D7-803D-203DA0AEF4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d8516a7b4dc4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42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4E94A-72C3-4F74-B683-39008177CB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ee5e29af5745a7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501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EE5CE-183D-4962-A293-D8F90857BF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424f1cf9449b7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80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B621B-3181-4050-B4A6-7A4FFBCBE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4396f99ca42e8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521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91611-F253-43C9-9B10-487B68CD15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02e3ed1d344c5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179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80D4A-2F73-462D-B084-D525753E1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5edabc84c4c98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066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1EE5D-6865-43A4-AF63-2BA541009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8ec9bcaba475d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598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C42C7-318C-4B63-BF06-D952993C88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9d9075b8c4902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615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F6DD3-FC62-4191-912D-9E72029E52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30bdfc3ea4c30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121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58448-0B46-486F-A4AC-2DA5BAB50B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bb2d604664873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493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29EA4-F615-4083-A0E7-3800734567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85934e4f84d5b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6887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373D6-F22F-49EF-B305-513A72BBE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b32f3c38c4ddd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070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5C445-9AFA-4975-AB83-D9175C36E3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731685f3449ef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1651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4C6DC-F5AD-4E53-8C7B-7F3A8DBE85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de12192764556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0110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AA155-2058-4079-8D09-B973DC291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a8e9cebd047a4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938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6C4E2-9C4A-4778-A025-FD8943BD0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0d57ca3964eb6"/>
          <a:stretch xmlns:a="http://schemas.openxmlformats.org/drawingml/2006/main"/>
        </p:blipFill>
        <p:spPr>
          <a:xfrm xmlns:a="http://schemas.openxmlformats.org/drawingml/2006/main">
            <a:off x="4049" y="0"/>
            <a:ext cx="15231902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60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2026-10-28T04:28:40.9190000Z</dcterms:created>
  <dcterms:modified xsi:type="dcterms:W3CDTF">2026-10-28T04:28:40.9190000Z</dcterms:modified>
</coreProperties>
</file>